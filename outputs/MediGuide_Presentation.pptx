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4884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3756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3192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2064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500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0372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9244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116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6988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6424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58600" y="2743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576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5448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4884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4320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3756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3192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2628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064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1500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0936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90372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9808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9244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8680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8116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87552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6988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06424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658600" y="91440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6576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6012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55448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14884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74320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33756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3192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2628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2064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71500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0936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0372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49808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09244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8680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28116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87552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46988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06424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658600" y="155448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6576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6012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55448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4884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74320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3756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93192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52628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12064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71500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30936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90372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49808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9244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68680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28116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7552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46988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6424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658600" y="21945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6576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6012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55448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14884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74320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33756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93192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52628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12064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71500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0936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90372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49808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09244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68680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28116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87552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46988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06424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658600" y="283463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6576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6012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55448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14884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74320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33756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93192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52628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12064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71500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30936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90372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49808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09244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68680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28116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987552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46988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06424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658600" y="347472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6576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6012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55448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14884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74320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33756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93192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52628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12064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71500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30936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90372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49808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09244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68680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28116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87552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46988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06424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1658600" y="411479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6576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012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55448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214884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74320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33756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93192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52628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12064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571500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30936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90372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49808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09244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68680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28116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87552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46988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06424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658600" y="475487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36576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6012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55448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14884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74320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33756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93192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52628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12064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71500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630936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90372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49808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09244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868680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28116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87552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46988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106424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658600" y="5394959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36576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96012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55448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14884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274320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33756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393192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52628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12064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571500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630936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690372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49808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09244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68680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928116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987552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46988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106424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1658600" y="6035040"/>
            <a:ext cx="45720" cy="45720"/>
          </a:xfrm>
          <a:prstGeom prst="ellipse">
            <a:avLst/>
          </a:prstGeom>
          <a:solidFill>
            <a:srgbClr val="2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097280" y="128016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MediGuide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114800" y="2834640"/>
            <a:ext cx="3931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97280" y="2971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BFDBFF"/>
                </a:solidFill>
                <a:latin typeface="Calibri"/>
              </a:rPr>
              <a:t>AI-Powered Local Patient Health Companion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97280" y="3611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3C5FD"/>
                </a:solidFill>
                <a:latin typeface="Calibri"/>
              </a:rPr>
              <a:t>Retrieval-Augmented Generation for Medical Discharge Notes &amp; Health Q&amp;A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371600" y="4480560"/>
            <a:ext cx="9418320" cy="59436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371600" y="4498848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60A5FA"/>
                </a:solidFill>
                <a:latin typeface="Calibri"/>
              </a:rPr>
              <a:t>Built with  LLaMA 3.1  ·  PubMedBERT  ·  FAISS  ·  FastAPI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772400" y="61264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  <a:latin typeface="Calibri"/>
              </a:rPr>
              <a:t>100% Local  ·  No Cloud  ·  No Data Sharing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The Challenge: Medical Discharge Notes Are Hard to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2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399032"/>
            <a:ext cx="3063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DC2626"/>
                </a:solidFill>
                <a:latin typeface="Calibri"/>
              </a:rPr>
              <a:t>1 in 5 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re-admitted within 30 days of discharge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99032"/>
            <a:ext cx="3063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Calibri"/>
              </a:rPr>
              <a:t>40–80%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1031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of medical information forgotten immediately after doctor visits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2344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23444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1399032"/>
            <a:ext cx="3063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563EB"/>
                </a:solidFill>
                <a:latin typeface="Calibri"/>
              </a:rPr>
              <a:t>9th 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1031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average reading level required for discharge notes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114300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6B"/>
                </a:solidFill>
                <a:latin typeface="Calibri"/>
              </a:rPr>
              <a:t>Core Pain Points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97764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Complex medical jargon patients can't understand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66344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Critical medication instructions missed or misunderstood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397764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886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Follow-up steps unclear, leading to poor health outcomes</a:t>
            </a:r>
          </a:p>
        </p:txBody>
      </p:sp>
      <p:sp>
        <p:nvSpPr>
          <p:cNvPr id="25" name="Oval 24"/>
          <p:cNvSpPr/>
          <p:nvPr/>
        </p:nvSpPr>
        <p:spPr>
          <a:xfrm>
            <a:off x="6126480" y="466344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No accessible tool to translate clinical language to plain English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MediGuide: Plain English for Every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3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Calibri"/>
              </a:rPr>
              <a:t>Discharge Note Explainer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194767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Explains diagnosis, medications, follow-up steps,
warning signs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6974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Outputs at 6th-grade reading level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4472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28416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Instant streaming response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19709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78224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Supports PDF, DOCX, TXT, and image (OCR) uploads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94690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28032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Context preserved for follow-up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00584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18872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Calibri"/>
              </a:rPr>
              <a:t>Health Q&amp;A Assistant</a:t>
            </a:r>
          </a:p>
        </p:txBody>
      </p:sp>
      <p:sp>
        <p:nvSpPr>
          <p:cNvPr id="19" name="Oval 18"/>
          <p:cNvSpPr/>
          <p:nvPr/>
        </p:nvSpPr>
        <p:spPr>
          <a:xfrm>
            <a:off x="6464808" y="19476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828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Everyday health questions answered</a:t>
            </a:r>
          </a:p>
        </p:txBody>
      </p:sp>
      <p:sp>
        <p:nvSpPr>
          <p:cNvPr id="21" name="Oval 20"/>
          <p:cNvSpPr/>
          <p:nvPr/>
        </p:nvSpPr>
        <p:spPr>
          <a:xfrm>
            <a:off x="6464808" y="269748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57860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Home care tips + when to see a doctor</a:t>
            </a:r>
          </a:p>
        </p:txBody>
      </p:sp>
      <p:sp>
        <p:nvSpPr>
          <p:cNvPr id="23" name="Oval 22"/>
          <p:cNvSpPr/>
          <p:nvPr/>
        </p:nvSpPr>
        <p:spPr>
          <a:xfrm>
            <a:off x="6464808" y="344728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328416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Evidence-based, source-cited answers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419709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078224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Smart follow-up question suggestions</a:t>
            </a:r>
          </a:p>
        </p:txBody>
      </p:sp>
      <p:sp>
        <p:nvSpPr>
          <p:cNvPr id="27" name="Oval 26"/>
          <p:cNvSpPr/>
          <p:nvPr/>
        </p:nvSpPr>
        <p:spPr>
          <a:xfrm>
            <a:off x="6464808" y="494690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82803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Medical spell correction (35+ terms)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897880"/>
            <a:ext cx="11430000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0076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100% Local  ·  No Cloud  ·  No Data Leaves Your Device  ·  Open Medical Databases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System Architecture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4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7160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81328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User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37160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481328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Preprocessor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37160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481328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Hybrid Retriever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37160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481328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 Generator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137160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1481328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Patient Response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1760220.0"/>
            <a:ext cx="484632" cy="0.0"/>
          </a:xfrm>
          <a:prstGeom prst="line">
            <a:avLst/>
          </a:prstGeom>
          <a:ln w="31750">
            <a:solidFill>
              <a:srgbClr val="1B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54880" y="1760220.0"/>
            <a:ext cx="484632" cy="0.0"/>
          </a:xfrm>
          <a:prstGeom prst="line">
            <a:avLst/>
          </a:prstGeom>
          <a:ln w="31750">
            <a:solidFill>
              <a:srgbClr val="1B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32320" y="1760220.0"/>
            <a:ext cx="484632" cy="0.0"/>
          </a:xfrm>
          <a:prstGeom prst="line">
            <a:avLst/>
          </a:prstGeom>
          <a:ln w="31750">
            <a:solidFill>
              <a:srgbClr val="1B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1760220.0"/>
            <a:ext cx="484632" cy="0.0"/>
          </a:xfrm>
          <a:prstGeom prst="line">
            <a:avLst/>
          </a:prstGeom>
          <a:ln w="31750">
            <a:solidFill>
              <a:srgbClr val="1B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0040" y="2423160"/>
            <a:ext cx="2057400" cy="4114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487168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563EB"/>
                </a:solidFill>
                <a:latin typeface="Calibri"/>
              </a:rPr>
              <a:t>Discharge Note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2926080"/>
            <a:ext cx="2057400" cy="4114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990088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563EB"/>
                </a:solidFill>
                <a:latin typeface="Calibri"/>
              </a:rPr>
              <a:t>Health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3429000"/>
            <a:ext cx="2057400" cy="4114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493008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563EB"/>
                </a:solidFill>
                <a:latin typeface="Calibri"/>
              </a:rPr>
              <a:t>Uploaded File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48740.0" y="2148840"/>
            <a:ext cx="0.0" cy="27432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74920" y="242316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249631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563EB"/>
                </a:solidFill>
                <a:latin typeface="Calibri"/>
              </a:rPr>
              <a:t>BM25 Sparse (w=0.45)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74920" y="297180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304495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0B981"/>
                </a:solidFill>
                <a:latin typeface="Calibri"/>
              </a:rPr>
              <a:t>PubMedBERT FAISS (w=0.55)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74920" y="352044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359359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C3AED"/>
                </a:solidFill>
                <a:latin typeface="Calibri"/>
              </a:rPr>
              <a:t>RRF Fusion → Top-K=8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03620.0" y="2148840"/>
            <a:ext cx="0.0" cy="27432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52360" y="242316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249631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F59E0B"/>
                </a:solidFill>
                <a:latin typeface="Calibri"/>
              </a:rPr>
              <a:t>LLaMA 3.1 8B / Ollama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297180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304495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DC2626"/>
                </a:solidFill>
                <a:latin typeface="Calibri"/>
              </a:rPr>
              <a:t>Fallback Template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60" y="352044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359359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0B981"/>
                </a:solidFill>
                <a:latin typeface="Calibri"/>
              </a:rPr>
              <a:t>Streaming SSE Tokens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81060.0" y="2148840"/>
            <a:ext cx="0.0" cy="27432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65760" y="562356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Input Layer</a:t>
            </a:r>
          </a:p>
        </p:txBody>
      </p:sp>
      <p:sp>
        <p:nvSpPr>
          <p:cNvPr id="42" name="Oval 41"/>
          <p:cNvSpPr/>
          <p:nvPr/>
        </p:nvSpPr>
        <p:spPr>
          <a:xfrm>
            <a:off x="2743200" y="562356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180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Processing</a:t>
            </a:r>
          </a:p>
        </p:txBody>
      </p:sp>
      <p:sp>
        <p:nvSpPr>
          <p:cNvPr id="44" name="Oval 43"/>
          <p:cNvSpPr/>
          <p:nvPr/>
        </p:nvSpPr>
        <p:spPr>
          <a:xfrm>
            <a:off x="5120640" y="562356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Retrieval</a:t>
            </a:r>
          </a:p>
        </p:txBody>
      </p:sp>
      <p:sp>
        <p:nvSpPr>
          <p:cNvPr id="46" name="Oval 45"/>
          <p:cNvSpPr/>
          <p:nvPr/>
        </p:nvSpPr>
        <p:spPr>
          <a:xfrm>
            <a:off x="7498080" y="5623560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2668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Generation</a:t>
            </a:r>
          </a:p>
        </p:txBody>
      </p:sp>
      <p:sp>
        <p:nvSpPr>
          <p:cNvPr id="48" name="Oval 47"/>
          <p:cNvSpPr/>
          <p:nvPr/>
        </p:nvSpPr>
        <p:spPr>
          <a:xfrm>
            <a:off x="9875520" y="562356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0412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Knowledge Base: 49,423 Indexed Chunks from Open Medical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5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5603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143000"/>
            <a:ext cx="2450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051560"/>
            <a:ext cx="10972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143000"/>
            <a:ext cx="987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051560"/>
            <a:ext cx="10972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143000"/>
            <a:ext cx="987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Chunks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051560"/>
            <a:ext cx="64008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1143000"/>
            <a:ext cx="62910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2560320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664208"/>
            <a:ext cx="24505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Calibri"/>
              </a:rPr>
              <a:t>openFDA Drug Labels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554480"/>
            <a:ext cx="1097280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1664208"/>
            <a:ext cx="987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Calibri"/>
              </a:rPr>
              <a:t>16,000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1554480"/>
            <a:ext cx="1097280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6512" y="1664208"/>
            <a:ext cx="987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Calibri"/>
              </a:rPr>
              <a:t>41,344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554480"/>
            <a:ext cx="6400800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1664208"/>
            <a:ext cx="6291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Calibri"/>
              </a:rPr>
              <a:t>FDA indications, warnings, dosing, adverse reactions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12848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322576"/>
            <a:ext cx="24505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Calibri"/>
              </a:rPr>
              <a:t>MedlinePlus (NIH)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212848"/>
            <a:ext cx="1097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2322576"/>
            <a:ext cx="987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Calibri"/>
              </a:rPr>
              <a:t>~1,100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2212848"/>
            <a:ext cx="1097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96512" y="2322576"/>
            <a:ext cx="987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Calibri"/>
              </a:rPr>
              <a:t>3,634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2212848"/>
            <a:ext cx="6400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3792" y="2322576"/>
            <a:ext cx="6291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Calibri"/>
              </a:rPr>
              <a:t>Plain-language health condition pages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871216"/>
            <a:ext cx="2560320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980944"/>
            <a:ext cx="24505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Calibri"/>
              </a:rPr>
              <a:t>PubMed Abstracts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2871216"/>
            <a:ext cx="1097280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2980944"/>
            <a:ext cx="987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Calibri"/>
              </a:rPr>
              <a:t>3,000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2871216"/>
            <a:ext cx="1097280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6512" y="2980944"/>
            <a:ext cx="987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Calibri"/>
              </a:rPr>
              <a:t>3,141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2871216"/>
            <a:ext cx="6400800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93792" y="2980944"/>
            <a:ext cx="6291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Calibri"/>
              </a:rPr>
              <a:t>Clinical literature via NCBI Entrez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529584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639312"/>
            <a:ext cx="24505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Calibri"/>
              </a:rPr>
              <a:t>PLABA Dataset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3529584"/>
            <a:ext cx="1097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9232" y="3639312"/>
            <a:ext cx="987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Calibri"/>
              </a:rPr>
              <a:t>749 pairs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3529584"/>
            <a:ext cx="1097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96512" y="3639312"/>
            <a:ext cx="987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Calibri"/>
              </a:rPr>
              <a:t>1,304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3529584"/>
            <a:ext cx="6400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93792" y="3639312"/>
            <a:ext cx="6291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Calibri"/>
              </a:rPr>
              <a:t>PubMed + plain-language rewrites (75 clinical Qs)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187952"/>
            <a:ext cx="2560320" cy="658368"/>
          </a:xfrm>
          <a:prstGeom prst="rect">
            <a:avLst/>
          </a:prstGeom>
          <a:solidFill>
            <a:srgbClr val="1B3A6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4297680"/>
            <a:ext cx="24505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4187952"/>
            <a:ext cx="1097280" cy="658368"/>
          </a:xfrm>
          <a:prstGeom prst="rect">
            <a:avLst/>
          </a:prstGeom>
          <a:solidFill>
            <a:srgbClr val="1B3A6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9232" y="4297680"/>
            <a:ext cx="987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~20,849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3360" y="4187952"/>
            <a:ext cx="1097280" cy="658368"/>
          </a:xfrm>
          <a:prstGeom prst="rect">
            <a:avLst/>
          </a:prstGeom>
          <a:solidFill>
            <a:srgbClr val="1B3A6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96512" y="4297680"/>
            <a:ext cx="987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49,423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0" y="4187952"/>
            <a:ext cx="6400800" cy="658368"/>
          </a:xfrm>
          <a:prstGeom prst="rect">
            <a:avLst/>
          </a:prstGeom>
          <a:solidFill>
            <a:srgbClr val="1B3A6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93792" y="4297680"/>
            <a:ext cx="6291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760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CA3AF"/>
                </a:solidFill>
                <a:latin typeface="Calibri"/>
              </a:rPr>
              <a:t>Note: MIMIC-IV-Note (331,794 clinical notes) supported — requires PhysioNet credentials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1447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Chunk settings: Size 384 tokens · Overlap 64 tokens · Embedding: pritamdeka/S-PubMedBert-MS-MARCO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Hybrid Retrieval-Augmented Generation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6 / 20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2527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16152"/>
            <a:ext cx="384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051560"/>
            <a:ext cx="11155680" cy="804672"/>
          </a:xfrm>
          <a:prstGeom prst="roundRect">
            <a:avLst>
              <a:gd name="adj" fmla="val 6000"/>
            </a:avLst>
          </a:prstGeom>
          <a:solidFill>
            <a:srgbClr val="DEE7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051560"/>
            <a:ext cx="1920240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 PREPROCESS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Section segmentation · Abbreviation expansion (80+ terms) · Medication extraction · Entity normalisation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856232"/>
            <a:ext cx="0" cy="201168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65760" y="2258568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21992"/>
            <a:ext cx="384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057400"/>
            <a:ext cx="11155680" cy="804672"/>
          </a:xfrm>
          <a:prstGeom prst="roundRect">
            <a:avLst>
              <a:gd name="adj" fmla="val 6000"/>
            </a:avLst>
          </a:prstGeom>
          <a:solidFill>
            <a:srgbClr val="EBE1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2057400"/>
            <a:ext cx="1920240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2402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  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212848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BM25 sparse (weight 0.45) + PubMedBERT dense FAISS (weight 0.55) → Top-K=8 per section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862072"/>
            <a:ext cx="0" cy="201168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65760" y="3264408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27832"/>
            <a:ext cx="384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063240"/>
            <a:ext cx="11155680" cy="804672"/>
          </a:xfrm>
          <a:prstGeom prst="roundRect">
            <a:avLst>
              <a:gd name="adj" fmla="val 6000"/>
            </a:avLst>
          </a:prstGeom>
          <a:solidFill>
            <a:srgbClr val="DAEEED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063240"/>
            <a:ext cx="1920240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2461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 FUSE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218688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Reciprocal Rank Fusion (RRF) · Source filtering per section · Cosine similarity ≥ 0.28 threshold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867912"/>
            <a:ext cx="0" cy="201168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65760" y="4270248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33672"/>
            <a:ext cx="384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069080"/>
            <a:ext cx="11155680" cy="804672"/>
          </a:xfrm>
          <a:prstGeom prst="roundRect">
            <a:avLst>
              <a:gd name="adj" fmla="val 6000"/>
            </a:avLst>
          </a:prstGeom>
          <a:solidFill>
            <a:srgbClr val="FBE5DA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4069080"/>
            <a:ext cx="1920240" cy="8046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25196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  GENERATE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224528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LLaMA 3.1 8B via Ollama · Streaming SSE tokens · Fallback template if offline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4873752"/>
            <a:ext cx="0" cy="201168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65760" y="527608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239512"/>
            <a:ext cx="384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5074920"/>
            <a:ext cx="11155680" cy="804672"/>
          </a:xfrm>
          <a:prstGeom prst="roundRect">
            <a:avLst>
              <a:gd name="adj" fmla="val 6000"/>
            </a:avLst>
          </a:prstGeom>
          <a:solidFill>
            <a:srgbClr val="DBF4E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8680" y="5074920"/>
            <a:ext cx="1920240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578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  RESPOND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5230368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4-section structured output · RAG provenance panel · Source citations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Hybrid Retrieval: BM25 + Dense + RRF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7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BM25 Sparse Retrieval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90195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Term frequency matching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49631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414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Fast exact keyword search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09067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358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Great for drug names &amp; medical terms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68503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301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Weight: 0.45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09728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PubMedBERT Dense Retrieval</a:t>
            </a:r>
          </a:p>
        </p:txBody>
      </p:sp>
      <p:sp>
        <p:nvSpPr>
          <p:cNvPr id="17" name="Oval 16"/>
          <p:cNvSpPr/>
          <p:nvPr/>
        </p:nvSpPr>
        <p:spPr>
          <a:xfrm>
            <a:off x="6720840" y="1901952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8470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Semantic embedding similarity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496312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24414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FAISS IndexFlatIP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090672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0358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Biomedical domain pre-training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685032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6301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Weight: 0.55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17520.0" y="4572000"/>
            <a:ext cx="3081528.0" cy="274320"/>
          </a:xfrm>
          <a:prstGeom prst="line">
            <a:avLst/>
          </a:prstGeom>
          <a:ln w="25400">
            <a:solidFill>
              <a:srgbClr val="1B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099048" y="4572000"/>
            <a:ext cx="3044952.0" cy="274320"/>
          </a:xfrm>
          <a:prstGeom prst="line">
            <a:avLst/>
          </a:prstGeom>
          <a:ln w="25400">
            <a:solidFill>
              <a:srgbClr val="1B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200400" y="4846320"/>
            <a:ext cx="5760720" cy="146304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937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Reciprocal Rank Fusion (RRF)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4864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DBFF"/>
                </a:solidFill>
                <a:latin typeface="Calibri"/>
              </a:rPr>
              <a:t>Combines ranked lists · Reduces bias · Score = Σ 1/(k+rankᵢ) · Top-K=8 per discharge section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Evaluation Results — Measured on 20 PLABA Test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8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6517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Precision@5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563EB"/>
                </a:solidFill>
                <a:latin typeface="Calibri"/>
              </a:rPr>
              <a:t>0.15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F2937"/>
                </a:solidFill>
                <a:latin typeface="Calibri"/>
              </a:rPr>
              <a:t>15% of top-5 retrieved
are gold chunks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05156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73552" y="1051560"/>
            <a:ext cx="26517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Recall@5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057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0B981"/>
                </a:solidFill>
                <a:latin typeface="Calibri"/>
              </a:rPr>
              <a:t>0.55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3063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F2937"/>
                </a:solidFill>
                <a:latin typeface="Calibri"/>
              </a:rPr>
              <a:t>55% of gold chunks
found in top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05156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05156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MRR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057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7C3AED"/>
                </a:solidFill>
                <a:latin typeface="Calibri"/>
              </a:rPr>
              <a:t>0.576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3063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F2937"/>
                </a:solidFill>
                <a:latin typeface="Calibri"/>
              </a:rPr>
              <a:t>Mean Reciprocal Rank
First gold chunk at rank ~1.7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105156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1051560"/>
            <a:ext cx="26517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ROUGE-L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057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59E0B"/>
                </a:solidFill>
                <a:latin typeface="Calibri"/>
              </a:rPr>
              <a:t>0.117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063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F2937"/>
                </a:solidFill>
                <a:latin typeface="Calibri"/>
              </a:rPr>
              <a:t>Lexical overlap with
plain-language reference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80560"/>
            <a:ext cx="1143000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480560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72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Readability Score: Flesch-Kincaid Grade 9.3 — accessible for most adult patients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257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CA3AF"/>
                </a:solidFill>
                <a:latin typeface="Calibri"/>
              </a:rPr>
              <a:t>Evaluated on PLABA dataset: biomedical abstracts paired with patient-friendly rewrites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MediGuide Web App — Feature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9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374903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6072" y="1280160"/>
            <a:ext cx="347472" cy="347472"/>
          </a:xfrm>
          <a:prstGeom prst="ellipse">
            <a:avLst/>
          </a:prstGeom>
          <a:solidFill>
            <a:srgbClr val="DEE7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3444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Two-Mode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691640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Discharge Note + Health Q&amp;A tabs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7" y="1097280"/>
            <a:ext cx="374903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3127" y="109728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19" y="1280160"/>
            <a:ext cx="347472" cy="347472"/>
          </a:xfrm>
          <a:prstGeom prst="ellipse">
            <a:avLst/>
          </a:prstGeom>
          <a:solidFill>
            <a:srgbClr val="DBF4E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19" y="123444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Streaming Responses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1691640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Real-time token-by-token output via 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94774" y="1097280"/>
            <a:ext cx="374903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94774" y="109728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59366" y="1280160"/>
            <a:ext cx="347472" cy="347472"/>
          </a:xfrm>
          <a:prstGeom prst="ellipse">
            <a:avLst/>
          </a:prstGeom>
          <a:solidFill>
            <a:srgbClr val="FDF0D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9366" y="123444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Conversation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6" y="1691640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Full chat history in localStorage, one-click reload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880360"/>
            <a:ext cx="374903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880360"/>
            <a:ext cx="73152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072" y="3063240"/>
            <a:ext cx="347472" cy="347472"/>
          </a:xfrm>
          <a:prstGeom prst="ellipse">
            <a:avLst/>
          </a:prstGeom>
          <a:solidFill>
            <a:srgbClr val="EBE1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301752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Multi-Format Upload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3474720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PDF, DOCX, TXT, PNG/JPG/TIFF (OCR)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3127" y="2880360"/>
            <a:ext cx="374903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53127" y="2880360"/>
            <a:ext cx="73152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7719" y="3063240"/>
            <a:ext cx="347472" cy="347472"/>
          </a:xfrm>
          <a:prstGeom prst="ellipse">
            <a:avLst/>
          </a:prstGeom>
          <a:solidFill>
            <a:srgbClr val="DAEEED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19" y="301752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Smart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19" y="3474720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Context-aware follow-up question chips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94774" y="2880360"/>
            <a:ext cx="374903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94774" y="2880360"/>
            <a:ext cx="73152" cy="1508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9366" y="3063240"/>
            <a:ext cx="347472" cy="347472"/>
          </a:xfrm>
          <a:prstGeom prst="ellipse">
            <a:avLst/>
          </a:prstGeom>
          <a:solidFill>
            <a:srgbClr val="FBE5DA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6" y="301752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Calibri"/>
              </a:rPr>
              <a:t>Spell Correction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9366" y="3474720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35+ medical misspellings auto-detected &amp; fixed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Two Intelligent Modes for Every Patient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10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05840"/>
            <a:ext cx="5623560" cy="5394960"/>
          </a:xfrm>
          <a:prstGeom prst="roundRect">
            <a:avLst>
              <a:gd name="adj" fmla="val 4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Discharge Note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  <a:latin typeface="Calibri"/>
              </a:rPr>
              <a:t>Input: Full hospital discharge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Output sections: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2651760"/>
            <a:ext cx="516636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15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Diagnosis Explained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3246120"/>
            <a:ext cx="5166360" cy="45720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10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Your Medications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3840480"/>
            <a:ext cx="5166360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04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Follow-up 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4434840"/>
            <a:ext cx="5166360" cy="45720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988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Warning Signs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663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  <a:latin typeface="Calibri"/>
              </a:rPr>
              <a:t>Context preserved for follow-up questions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005840"/>
            <a:ext cx="5623560" cy="5394960"/>
          </a:xfrm>
          <a:prstGeom prst="roundRect">
            <a:avLst>
              <a:gd name="adj" fmla="val 4000"/>
            </a:avLst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3444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Health Q&amp;A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Calibri"/>
              </a:rPr>
              <a:t>Input: Everyday health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4028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Output sections: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2" y="2651760"/>
            <a:ext cx="5166360" cy="4572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715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What This Could Be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2" y="3246120"/>
            <a:ext cx="5166360" cy="45720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310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Home Care Tips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2" y="3840480"/>
            <a:ext cx="5166360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904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When to See a Doctor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4434840"/>
            <a:ext cx="5166360" cy="45720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4988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Go to the ER 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663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E7B7"/>
                </a:solidFill>
                <a:latin typeface="Calibri"/>
              </a:rPr>
              <a:t>Topic-matched follow-up suggestions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Intelligent Input: Suggestions + Spell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11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394960" cy="5029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Dynamic Suggestion Chips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92024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Contextual starters appear above input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42316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500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Updates as you type (keyword matching)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9260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529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Different chips for each mode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42900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558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Clicking pre-fills textarea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4048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What are my discharge instructions?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38912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622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What does my diagnosis mean?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93776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10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When should I take my medications?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097280"/>
            <a:ext cx="5394960" cy="50292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Medical Spell Correction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192024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8470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35+ medical term corrections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24231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3500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diabeties → diabetes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2926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8529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pnemonia → pneumonia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42900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3558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symtoms → symptoms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39319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858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"Fix it" one-click yellow banner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443484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3616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Browser spellcheck also enabled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5029200"/>
            <a:ext cx="5029200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502920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1937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400E"/>
                </a:solidFill>
                <a:latin typeface="Calibri"/>
              </a:rPr>
              <a:t>Did you mean "diabetes"?  [Fix 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12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2743200" cy="5120640"/>
          </a:xfrm>
          <a:prstGeom prst="roundRect">
            <a:avLst>
              <a:gd name="adj" fmla="val 5000"/>
            </a:avLst>
          </a:prstGeom>
          <a:solidFill>
            <a:srgbClr val="0F234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7432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7830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8745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" y="24688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5603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Uvicorn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" y="31546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32461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Python 3.9+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" y="38404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39319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Server-Sent Events (SSE)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" y="45262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46177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pdfplumber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" y="52120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53035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pytesseract (OCR)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9272" y="1097280"/>
            <a:ext cx="2743200" cy="5120640"/>
          </a:xfrm>
          <a:prstGeom prst="roundRect">
            <a:avLst>
              <a:gd name="adj" fmla="val 5000"/>
            </a:avLst>
          </a:prstGeom>
          <a:solidFill>
            <a:srgbClr val="0F234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9272" y="1097280"/>
            <a:ext cx="27432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 / 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17830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18745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LLaMA 3.1 8B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24688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25603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Ollama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1546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2461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PubMedBERT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38404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39319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FAISS IndexFlatIP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45262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46177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BM25Okapi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52120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53035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sentence-transformers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7064" y="1097280"/>
            <a:ext cx="2743200" cy="5120640"/>
          </a:xfrm>
          <a:prstGeom prst="roundRect">
            <a:avLst>
              <a:gd name="adj" fmla="val 5000"/>
            </a:avLst>
          </a:prstGeom>
          <a:solidFill>
            <a:srgbClr val="0F234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27064" y="1097280"/>
            <a:ext cx="27432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7064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36792" y="17830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18745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openFDA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36792" y="24688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36792" y="25603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MedlinePlus (NIH)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36792" y="31546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6792" y="32461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PubMed / NCBI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36792" y="38404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39319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PLABA Dataset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36792" y="45262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6792" y="46177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MIMIC-IV-Note*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36792" y="52120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6792" y="53035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MedQuAD*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34856" y="1097280"/>
            <a:ext cx="2743200" cy="5120640"/>
          </a:xfrm>
          <a:prstGeom prst="roundRect">
            <a:avLst>
              <a:gd name="adj" fmla="val 5000"/>
            </a:avLst>
          </a:prstGeom>
          <a:solidFill>
            <a:srgbClr val="0F234A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34856" y="1097280"/>
            <a:ext cx="27432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34856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44584" y="17830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44584" y="18745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Vanilla JavaScript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44584" y="24688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44584" y="25603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CSS Variables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44584" y="31546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44584" y="32461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localStorage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44584" y="38404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44584" y="39319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Responsive Design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44584" y="45262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44584" y="46177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Dark / Light Mode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44584" y="5212080"/>
            <a:ext cx="2523744" cy="54864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44584" y="53035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SSE Event Stream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* Planned — not yet integrated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Privacy First — Everything Stays on Your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13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3566160" cy="429768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356616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No Cloud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2024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All processing is local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69748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No API calls to external AI services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47472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2900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No patient data transmitted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25196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0624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Works completely offline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1051560"/>
            <a:ext cx="3566160" cy="42976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1051560"/>
            <a:ext cx="356616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1430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No Data Sharing</a:t>
            </a:r>
          </a:p>
        </p:txBody>
      </p:sp>
      <p:sp>
        <p:nvSpPr>
          <p:cNvPr id="19" name="Oval 18"/>
          <p:cNvSpPr/>
          <p:nvPr/>
        </p:nvSpPr>
        <p:spPr>
          <a:xfrm>
            <a:off x="4407408" y="192024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187452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Conversations stored in browser only</a:t>
            </a:r>
          </a:p>
        </p:txBody>
      </p:sp>
      <p:sp>
        <p:nvSpPr>
          <p:cNvPr id="21" name="Oval 20"/>
          <p:cNvSpPr/>
          <p:nvPr/>
        </p:nvSpPr>
        <p:spPr>
          <a:xfrm>
            <a:off x="4407408" y="26974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265176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Medical notes never leave the device</a:t>
            </a:r>
          </a:p>
        </p:txBody>
      </p:sp>
      <p:sp>
        <p:nvSpPr>
          <p:cNvPr id="23" name="Oval 22"/>
          <p:cNvSpPr/>
          <p:nvPr/>
        </p:nvSpPr>
        <p:spPr>
          <a:xfrm>
            <a:off x="4407408" y="347472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342900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Compliant with privacy-first principles</a:t>
            </a:r>
          </a:p>
        </p:txBody>
      </p:sp>
      <p:sp>
        <p:nvSpPr>
          <p:cNvPr id="25" name="Oval 24"/>
          <p:cNvSpPr/>
          <p:nvPr/>
        </p:nvSpPr>
        <p:spPr>
          <a:xfrm>
            <a:off x="4407408" y="425196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420624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No telemetry or analytics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7576" y="1051560"/>
            <a:ext cx="3566160" cy="4297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37576" y="1051560"/>
            <a:ext cx="356616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11430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Fully Offline Capable</a:t>
            </a:r>
          </a:p>
        </p:txBody>
      </p:sp>
      <p:sp>
        <p:nvSpPr>
          <p:cNvPr id="30" name="Oval 29"/>
          <p:cNvSpPr/>
          <p:nvPr/>
        </p:nvSpPr>
        <p:spPr>
          <a:xfrm>
            <a:off x="8220456" y="19202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216" y="187452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Ollama runs locally on your machine</a:t>
            </a:r>
          </a:p>
        </p:txBody>
      </p:sp>
      <p:sp>
        <p:nvSpPr>
          <p:cNvPr id="32" name="Oval 31"/>
          <p:cNvSpPr/>
          <p:nvPr/>
        </p:nvSpPr>
        <p:spPr>
          <a:xfrm>
            <a:off x="8220456" y="269748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86216" y="265176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FAISS index stored on disk</a:t>
            </a:r>
          </a:p>
        </p:txBody>
      </p:sp>
      <p:sp>
        <p:nvSpPr>
          <p:cNvPr id="34" name="Oval 33"/>
          <p:cNvSpPr/>
          <p:nvPr/>
        </p:nvSpPr>
        <p:spPr>
          <a:xfrm>
            <a:off x="8220456" y="347472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342900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Works without internet after setup</a:t>
            </a:r>
          </a:p>
        </p:txBody>
      </p:sp>
      <p:sp>
        <p:nvSpPr>
          <p:cNvPr id="36" name="Oval 35"/>
          <p:cNvSpPr/>
          <p:nvPr/>
        </p:nvSpPr>
        <p:spPr>
          <a:xfrm>
            <a:off x="8220456" y="425196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86216" y="420624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GPU accelerated (optional)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0" y="5623560"/>
            <a:ext cx="3931920" cy="64008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576072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Privacy-First Architecture — No External Data Transmission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Transparent AI — Full Source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Every response includes a RAG Provenance Panel showing exactly which database chunks were retrieved, their sources, and their retrieval scores.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320040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RAG Provenance — Sources Retrieved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Source: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9456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MedlinePlus (National Library of Medicine)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Title: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6032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Heart Failure  |  Doc ID: medlineplus_42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Scores: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2608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BM25=4.821   Dense=0.731   Fused(RRF)=0.0318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57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Source: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65760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FDA Drug Label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Title: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2336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FUROSEMIDE  |  Doc ID: openfda_1847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89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Scores: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8912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BM25=6.203   Dense=0.812   Fused(RRF)=0.0334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Patients and clinicians can verify every claim — each response shows which database chunks were retrieved, their sources, and retrieval scores.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5715000"/>
            <a:ext cx="5760720" cy="5943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58064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Transparent · Verifiable · Evidence-Based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Corpus Composition — 49,423 Chunks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15 / 20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8813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Calibri"/>
              </a:rPr>
              <a:t>openFDA dominates at 84% of total corpus — reflects FDA labeling data density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Roadmap — What's Next for MediGuide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16 / 20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28016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527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09728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1097280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18872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Calibri"/>
              </a:rPr>
              <a:t>MIMIC-IV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7276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Add 331,794 real clinical notes for richer discharge context and better evaluation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23774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500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19456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219456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28600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MedQuAD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7004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47,457 NIH Q&amp;A pairs for superior Health Q&amp;A coverage and recall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" y="3474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472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29184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1560" y="3291840"/>
            <a:ext cx="54864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3832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Multi-language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76732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Serve non-English speaking patients with translated outputs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" y="45720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445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3891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4389120"/>
            <a:ext cx="54864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48056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Voice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86460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Speech-to-text input + text-to-speech output for accessibility</a:t>
            </a:r>
          </a:p>
        </p:txBody>
      </p:sp>
      <p:sp>
        <p:nvSpPr>
          <p:cNvPr id="29" name="Oval 28"/>
          <p:cNvSpPr/>
          <p:nvPr/>
        </p:nvSpPr>
        <p:spPr>
          <a:xfrm>
            <a:off x="365760" y="5669280"/>
            <a:ext cx="548640" cy="5486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6418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548640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1560" y="5486400"/>
            <a:ext cx="54864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55778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Mobile 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9618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React Native wrapper for iOS/Android with offline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Honest Assessment — 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17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051560"/>
            <a:ext cx="1078992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051560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12471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59E0B"/>
                </a:solidFill>
                <a:latin typeface="Calibri"/>
              </a:rPr>
              <a:t>Metric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0876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ROUGE-L of 0.117 reflects lexical mismatch with reference — not poor quality (faithfulness confirmed by NLI). Model output is semantically correct but paraphrased.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04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148840"/>
            <a:ext cx="1078992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2148840"/>
            <a:ext cx="54864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22199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563EB"/>
                </a:solidFill>
                <a:latin typeface="Calibri"/>
              </a:rPr>
              <a:t>Retrieval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60604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Precision@5 of 0.15 improves significantly with MIMIC-IV data (not yet loaded). Current corpus is FDA/NIH focused, not discharge-note specific.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01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246120"/>
            <a:ext cx="1078992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3246120"/>
            <a:ext cx="54864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31927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A580C"/>
                </a:solidFill>
                <a:latin typeface="Calibri"/>
              </a:rPr>
              <a:t>OCR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0332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OCR accuracy depends on input image quality. Blurry scans or handwritten notes may produce text extraction errors.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26280"/>
            <a:ext cx="457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498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343400"/>
            <a:ext cx="1078992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" y="4343400"/>
            <a:ext cx="54864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41655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7C3AED"/>
                </a:solidFill>
                <a:latin typeface="Calibri"/>
              </a:rPr>
              <a:t>LLM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0060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Ollama LLM requires GPU for best performance. CPU inference is slow (~3–5 min/response). Streaming helps perceived latency.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623560"/>
            <a:ext cx="457200" cy="457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596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5440680"/>
            <a:ext cx="1078992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" y="5440680"/>
            <a:ext cx="54864" cy="9601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51383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CA3AF"/>
                </a:solidFill>
                <a:latin typeface="Calibri"/>
              </a:rPr>
              <a:t>Spell Correction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89788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Spell correction covers 35+ medical terms only. General English typos rely on browser's built-in spellcheck functionality.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MediGuide —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914400"/>
            <a:ext cx="75895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25272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End-to-End RAG System</a:t>
            </a:r>
          </a:p>
          <a:p>
            <a:r>
              <a:rPr sz="1250" b="0">
                <a:solidFill>
                  <a:srgbClr val="BFDBFF"/>
                </a:solidFill>
                <a:latin typeface="Calibri"/>
              </a:rPr>
              <a:t>Built a complete system from scratch — no black boxes, fully open-source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093976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  <a:latin typeface="Calibri"/>
              </a:rPr>
              <a:t>Rich Open Knowledge Base</a:t>
            </a:r>
          </a:p>
          <a:p>
            <a:r>
              <a:rPr sz="1250" b="0">
                <a:solidFill>
                  <a:srgbClr val="BFDBFF"/>
                </a:solidFill>
                <a:latin typeface="Calibri"/>
              </a:rPr>
              <a:t>49,423 chunks from 4 open medical databases (openFDA, MedlinePlus, PubMed, PLABA)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935224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34056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C3AED"/>
                </a:solidFill>
                <a:latin typeface="Calibri"/>
              </a:rPr>
              <a:t>Hybrid Retrieval</a:t>
            </a:r>
          </a:p>
          <a:p>
            <a:r>
              <a:rPr sz="1250" b="0">
                <a:solidFill>
                  <a:srgbClr val="BFDBFF"/>
                </a:solidFill>
                <a:latin typeface="Calibri"/>
              </a:rPr>
              <a:t>BM25 + PubMedBERT + RRF fusion outperforms either retrieval method alone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776472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75304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9E0B"/>
                </a:solidFill>
                <a:latin typeface="Calibri"/>
              </a:rPr>
              <a:t>Patient-Facing UI</a:t>
            </a:r>
          </a:p>
          <a:p>
            <a:r>
              <a:rPr sz="1250" b="0">
                <a:solidFill>
                  <a:srgbClr val="BFDBFF"/>
                </a:solidFill>
                <a:latin typeface="Calibri"/>
              </a:rPr>
              <a:t>Streaming, history, recommendations, spell correction, multi-format file upload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617720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16552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  <a:latin typeface="Calibri"/>
              </a:rPr>
              <a:t>Privacy-Preserving</a:t>
            </a:r>
          </a:p>
          <a:p>
            <a:r>
              <a:rPr sz="1250" b="0">
                <a:solidFill>
                  <a:srgbClr val="BFDBFF"/>
                </a:solidFill>
                <a:latin typeface="Calibri"/>
              </a:rPr>
              <a:t>100% local — medical notes never leave the patient's device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138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MRR: 0.576   ·   Recall@5: 0.55   ·   Readability Grade: 9.3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References &amp;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19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576072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271016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  <a:latin typeface="Calibri"/>
              </a:rPr>
              <a:t>PLABA Dataset: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143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Attal et al., BioNLP 2023 — Plain Language Adaptation of Biomedical Abstracts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83664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  <a:latin typeface="Calibri"/>
              </a:rPr>
              <a:t>MedlinePlus: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75564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U.S. National Library of Medicine — nlm.nih.gov/medlineplus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76856"/>
            <a:ext cx="11430000" cy="576072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" y="24963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6829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  <a:latin typeface="Calibri"/>
              </a:rPr>
              <a:t>openFDA: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368296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U.S. Food &amp; Drug Administration — open.fda.gov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8094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  <a:latin typeface="Calibri"/>
              </a:rPr>
              <a:t>PubMed: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980944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NCBI Entrez API — pubmed.ncbi.nlm.nih.gov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02152"/>
            <a:ext cx="11430000" cy="576072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935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  <a:latin typeface="Calibri"/>
              </a:rPr>
              <a:t>PubMedBERT: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593592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pritamdeka/S-PubMedBert-MS-MARCO (HuggingFace)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334256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  <a:latin typeface="Calibri"/>
              </a:rPr>
              <a:t>LLaMA 3.1: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206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Meta AI, 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27448"/>
            <a:ext cx="11430000" cy="576072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" y="4946904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818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  <a:latin typeface="Calibri"/>
              </a:rPr>
              <a:t>FAISS: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81888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Johnson et al., 2019 — Billion-scale similarity search with GPUs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55595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4315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  <a:latin typeface="Calibri"/>
              </a:rPr>
              <a:t>BM25: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431536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Robertson &amp; Zaragoza, 2009 — The Probabilistic Relevance Framework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46320" y="731520"/>
            <a:ext cx="2468880" cy="2468880"/>
          </a:xfrm>
          <a:prstGeom prst="ellipse">
            <a:avLst/>
          </a:prstGeom>
          <a:solidFill>
            <a:srgbClr val="1F4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154680"/>
            <a:ext cx="3931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3C5FD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" y="41605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425196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MRR: 0.576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41605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425196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Recall@5: 0.55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41605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425196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Grade: 9.3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41605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6256" y="425196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49,423 Chunks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0749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3C5FD"/>
                </a:solidFill>
                <a:latin typeface="Calibri"/>
              </a:rPr>
              <a:t>MediGuide — 100% Local · Open Source · Patient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5778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Calibri"/>
              </a:rPr>
              <a:t>github.com/yourname/mediguide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20 / 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